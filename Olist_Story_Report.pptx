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17/01</c:v>
                </c:pt>
                <c:pt idx="1">
                  <c:v>17/02</c:v>
                </c:pt>
                <c:pt idx="2">
                  <c:v>17/03</c:v>
                </c:pt>
                <c:pt idx="3">
                  <c:v>17/04</c:v>
                </c:pt>
                <c:pt idx="4">
                  <c:v>17/05</c:v>
                </c:pt>
                <c:pt idx="5">
                  <c:v>17/06</c:v>
                </c:pt>
                <c:pt idx="6">
                  <c:v>17/07</c:v>
                </c:pt>
                <c:pt idx="7">
                  <c:v>17/08</c:v>
                </c:pt>
                <c:pt idx="8">
                  <c:v>17/09</c:v>
                </c:pt>
                <c:pt idx="9">
                  <c:v>17/10</c:v>
                </c:pt>
                <c:pt idx="10">
                  <c:v>17/11</c:v>
                </c:pt>
                <c:pt idx="11">
                  <c:v>17/12</c:v>
                </c:pt>
                <c:pt idx="12">
                  <c:v>18/01</c:v>
                </c:pt>
                <c:pt idx="13">
                  <c:v>18/02</c:v>
                </c:pt>
                <c:pt idx="14">
                  <c:v>18/03</c:v>
                </c:pt>
                <c:pt idx="15">
                  <c:v>18/04</c:v>
                </c:pt>
                <c:pt idx="16">
                  <c:v>18/05</c:v>
                </c:pt>
                <c:pt idx="17">
                  <c:v>18/06</c:v>
                </c:pt>
                <c:pt idx="18">
                  <c:v>18/07</c:v>
                </c:pt>
                <c:pt idx="19">
                  <c:v>18/08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800</c:v>
                </c:pt>
                <c:pt idx="1">
                  <c:v>1780</c:v>
                </c:pt>
                <c:pt idx="2">
                  <c:v>2682</c:v>
                </c:pt>
                <c:pt idx="3">
                  <c:v>2404</c:v>
                </c:pt>
                <c:pt idx="4">
                  <c:v>3700</c:v>
                </c:pt>
                <c:pt idx="5">
                  <c:v>3245</c:v>
                </c:pt>
                <c:pt idx="6">
                  <c:v>4026</c:v>
                </c:pt>
                <c:pt idx="7">
                  <c:v>4331</c:v>
                </c:pt>
                <c:pt idx="8">
                  <c:v>4285</c:v>
                </c:pt>
                <c:pt idx="9">
                  <c:v>4631</c:v>
                </c:pt>
                <c:pt idx="10">
                  <c:v>7544</c:v>
                </c:pt>
                <c:pt idx="11">
                  <c:v>5673</c:v>
                </c:pt>
                <c:pt idx="12">
                  <c:v>7269</c:v>
                </c:pt>
                <c:pt idx="13">
                  <c:v>6728</c:v>
                </c:pt>
                <c:pt idx="14">
                  <c:v>7211</c:v>
                </c:pt>
                <c:pt idx="15">
                  <c:v>6939</c:v>
                </c:pt>
                <c:pt idx="16">
                  <c:v>6873</c:v>
                </c:pt>
                <c:pt idx="17">
                  <c:v>6167</c:v>
                </c:pt>
                <c:pt idx="18">
                  <c:v>6292</c:v>
                </c:pt>
                <c:pt idx="19">
                  <c:v>6512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02-4392-ADFA-7634AAE4D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E9-4D90-97C0-0715963AA7B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E9-4D90-97C0-0715963AA7B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2E9-4D90-97C0-0715963AA7B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2E9-4D90-97C0-0715963AA7B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2E9-4D90-97C0-0715963AA7B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2E9-4D90-97C0-0715963AA7B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2E9-4D90-97C0-0715963AA7B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2E9-4D90-97C0-0715963AA7B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2E9-4D90-97C0-0715963AA7B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2E9-4D90-97C0-0715963AA7BA}"/>
              </c:ext>
            </c:extLst>
          </c:dPt>
          <c:dPt>
            <c:idx val="10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2E9-4D90-97C0-0715963AA7B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52E9-4D90-97C0-0715963AA7B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52E9-4D90-97C0-0715963AA7BA}"/>
              </c:ext>
            </c:extLst>
          </c:dPt>
          <c:dPt>
            <c:idx val="13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52E9-4D90-97C0-0715963AA7BA}"/>
              </c:ext>
            </c:extLst>
          </c:dPt>
          <c:dPt>
            <c:idx val="14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52E9-4D90-97C0-0715963AA7BA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52E9-4D90-97C0-0715963AA7BA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52E9-4D90-97C0-0715963AA7BA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52E9-4D90-97C0-0715963AA7BA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52E9-4D90-97C0-0715963AA7BA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52E9-4D90-97C0-0715963AA7BA}"/>
              </c:ext>
            </c:extLst>
          </c:dPt>
          <c:cat>
            <c:strRef>
              <c:f>Sheet1!$A$2:$A$21</c:f>
              <c:strCache>
                <c:ptCount val="20"/>
                <c:pt idx="0">
                  <c:v>17/01</c:v>
                </c:pt>
                <c:pt idx="1">
                  <c:v>17/02</c:v>
                </c:pt>
                <c:pt idx="2">
                  <c:v>17/03</c:v>
                </c:pt>
                <c:pt idx="3">
                  <c:v>17/04</c:v>
                </c:pt>
                <c:pt idx="4">
                  <c:v>17/05</c:v>
                </c:pt>
                <c:pt idx="5">
                  <c:v>17/06</c:v>
                </c:pt>
                <c:pt idx="6">
                  <c:v>17/07</c:v>
                </c:pt>
                <c:pt idx="7">
                  <c:v>17/08</c:v>
                </c:pt>
                <c:pt idx="8">
                  <c:v>17/09</c:v>
                </c:pt>
                <c:pt idx="9">
                  <c:v>17/10</c:v>
                </c:pt>
                <c:pt idx="10">
                  <c:v>17/11</c:v>
                </c:pt>
                <c:pt idx="11">
                  <c:v>17/12</c:v>
                </c:pt>
                <c:pt idx="12">
                  <c:v>18/01</c:v>
                </c:pt>
                <c:pt idx="13">
                  <c:v>18/02</c:v>
                </c:pt>
                <c:pt idx="14">
                  <c:v>18/03</c:v>
                </c:pt>
                <c:pt idx="15">
                  <c:v>18/04</c:v>
                </c:pt>
                <c:pt idx="16">
                  <c:v>18/05</c:v>
                </c:pt>
                <c:pt idx="17">
                  <c:v>18/06</c:v>
                </c:pt>
                <c:pt idx="18">
                  <c:v>18/07</c:v>
                </c:pt>
                <c:pt idx="19">
                  <c:v>18/08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3.1</c:v>
                </c:pt>
                <c:pt idx="1">
                  <c:v>3.2</c:v>
                </c:pt>
                <c:pt idx="2">
                  <c:v>5.6</c:v>
                </c:pt>
                <c:pt idx="3">
                  <c:v>7.9</c:v>
                </c:pt>
                <c:pt idx="4">
                  <c:v>3.6</c:v>
                </c:pt>
                <c:pt idx="5">
                  <c:v>3.9</c:v>
                </c:pt>
                <c:pt idx="6">
                  <c:v>3.4</c:v>
                </c:pt>
                <c:pt idx="7">
                  <c:v>3.3</c:v>
                </c:pt>
                <c:pt idx="8">
                  <c:v>5.2</c:v>
                </c:pt>
                <c:pt idx="9">
                  <c:v>5.3</c:v>
                </c:pt>
                <c:pt idx="10">
                  <c:v>14.3</c:v>
                </c:pt>
                <c:pt idx="11">
                  <c:v>8.4</c:v>
                </c:pt>
                <c:pt idx="12">
                  <c:v>6.6</c:v>
                </c:pt>
                <c:pt idx="13">
                  <c:v>16</c:v>
                </c:pt>
                <c:pt idx="14">
                  <c:v>21.4</c:v>
                </c:pt>
                <c:pt idx="15">
                  <c:v>5.3</c:v>
                </c:pt>
                <c:pt idx="16">
                  <c:v>8.1999999999999993</c:v>
                </c:pt>
                <c:pt idx="17">
                  <c:v>1.4</c:v>
                </c:pt>
                <c:pt idx="18">
                  <c:v>4.5</c:v>
                </c:pt>
                <c:pt idx="19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52E9-4D90-97C0-0715963AA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5F-49A5-8EC9-61CE1B83F74F}"/>
              </c:ext>
            </c:extLst>
          </c:dPt>
          <c:dPt>
            <c:idx val="1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5F-49A5-8EC9-61CE1B83F74F}"/>
              </c:ext>
            </c:extLst>
          </c:dPt>
          <c:dPt>
            <c:idx val="2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5F-49A5-8EC9-61CE1B83F74F}"/>
              </c:ext>
            </c:extLst>
          </c:dPt>
          <c:dPt>
            <c:idx val="3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5F-49A5-8EC9-61CE1B83F74F}"/>
              </c:ext>
            </c:extLst>
          </c:dPt>
          <c:dPt>
            <c:idx val="4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5F-49A5-8EC9-61CE1B83F74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 time</c:v>
                </c:pt>
                <c:pt idx="1">
                  <c:v>1-3 days late</c:v>
                </c:pt>
                <c:pt idx="2">
                  <c:v>3-7 days</c:v>
                </c:pt>
                <c:pt idx="3">
                  <c:v>7-14 days</c:v>
                </c:pt>
                <c:pt idx="4">
                  <c:v>14+ days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4.28</c:v>
                </c:pt>
                <c:pt idx="1">
                  <c:v>3.75</c:v>
                </c:pt>
                <c:pt idx="2">
                  <c:v>2.2999999999999998</c:v>
                </c:pt>
                <c:pt idx="3">
                  <c:v>1.74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5F-49A5-8EC9-61CE1B83F7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rgbClr val="C9D1D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Late</c:v>
                </c:pt>
                <c:pt idx="2">
                  <c:v>Never arrived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89.2</c:v>
                </c:pt>
                <c:pt idx="1">
                  <c:v>7.9</c:v>
                </c:pt>
                <c:pt idx="2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1-4B4C-903C-92A65F88D5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bad reviews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Late</c:v>
                </c:pt>
                <c:pt idx="2">
                  <c:v>Never arrived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E1-4B4C-903C-92A65F88D5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2640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 approval</c:v>
                </c:pt>
              </c:strCache>
            </c:strRef>
          </c:tx>
          <c:spPr>
            <a:solidFill>
              <a:srgbClr val="C9D1D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4-4D91-8115-D447C913D5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Seller handling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2.6</c:v>
                </c:pt>
                <c:pt idx="1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84-4D91-8115-D447C913D5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Carrier transit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7.9</c:v>
                </c:pt>
                <c:pt idx="1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84-4D91-8115-D447C913D5A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1F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B9-4482-B227-CC9127D291D8}"/>
              </c:ext>
            </c:extLst>
          </c:dPt>
          <c:dPt>
            <c:idx val="1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B9-4482-B227-CC9127D291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seller</c:v>
                </c:pt>
                <c:pt idx="1">
                  <c:v>2+ sellers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9-4482-B227-CC9127D29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C9D1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F3-4299-BE5C-690492A4B90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F3-4299-BE5C-690492A4B90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F3-4299-BE5C-690492A4B90A}"/>
              </c:ext>
            </c:extLst>
          </c:dPt>
          <c:dPt>
            <c:idx val="3"/>
            <c:invertIfNegative val="0"/>
            <c:bubble3D val="0"/>
            <c:spPr>
              <a:solidFill>
                <a:srgbClr val="F26B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F3-4299-BE5C-690492A4B90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Wrong product</c:v>
                </c:pt>
                <c:pt idx="1">
                  <c:v>Defective / poor</c:v>
                </c:pt>
                <c:pt idx="2">
                  <c:v>Only part arrived</c:v>
                </c:pt>
                <c:pt idx="3">
                  <c:v>Not received / late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10</c:v>
                </c:pt>
                <c:pt idx="2">
                  <c:v>14.4</c:v>
                </c:pt>
                <c:pt idx="3">
                  <c:v>38.9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F3-4299-BE5C-690492A4B9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Freight %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97-45A9-B80E-CE85C71C1A1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197-45A9-B80E-CE85C71C1A15}"/>
              </c:ext>
            </c:extLst>
          </c:dPt>
          <c:dPt>
            <c:idx val="2"/>
            <c:invertIfNegative val="0"/>
            <c:bubble3D val="0"/>
            <c:spPr>
              <a:solidFill>
                <a:srgbClr val="C9D1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97-45A9-B80E-CE85C71C1A15}"/>
              </c:ext>
            </c:extLst>
          </c:dPt>
          <c:dPt>
            <c:idx val="3"/>
            <c:invertIfNegative val="0"/>
            <c:bubble3D val="0"/>
            <c:spPr>
              <a:solidFill>
                <a:srgbClr val="C9D1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97-45A9-B80E-CE85C71C1A15}"/>
              </c:ext>
            </c:extLst>
          </c:dPt>
          <c:dPt>
            <c:idx val="4"/>
            <c:invertIfNegative val="0"/>
            <c:bubble3D val="0"/>
            <c:spPr>
              <a:solidFill>
                <a:srgbClr val="C9D1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97-45A9-B80E-CE85C71C1A1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R$25</c:v>
                </c:pt>
                <c:pt idx="1">
                  <c:v>25-50</c:v>
                </c:pt>
                <c:pt idx="2">
                  <c:v>50-100</c:v>
                </c:pt>
                <c:pt idx="3">
                  <c:v>100-200</c:v>
                </c:pt>
                <c:pt idx="4">
                  <c:v>200+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39</c:v>
                </c:pt>
                <c:pt idx="2">
                  <c:v>24</c:v>
                </c:pt>
                <c:pt idx="3">
                  <c:v>16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97-45A9-B80E-CE85C71C1A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35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B9C0CB-469C-1304-F993-BF7F0F1FE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started as a marketplace hub — today it is a full retail-tech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Hub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170+ integrations, one listing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Ecommerce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seller's own online 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stock, orders, invoices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Shipping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order to delivery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4290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2628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Account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settle money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42900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7532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Credit + AI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and AI agents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customer? </a:t>
            </a: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Olist's paying clients are small and medium sellers. Shoppers are their customers, and every review lands on the seller's public profile.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delivery fails, it is not only Olist's problem — it damages the sellers Olist exists to help.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ONE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1 in 9 orders goes wrong, and they cause 44% of all bad reviews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 arrive 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61188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never arrive at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1-2 star reviews come from late or missing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011680"/>
            <a:ext cx="258775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81160" y="214884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→ 1.7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880360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score: on time vs. 2+ weeks late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promises 24 days and delivers in 13, yet delivery still breaks at peak months, and 2,965 orders never arrive (canceled, out of stock, stuck).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840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Intelligence: an early-warning score per order, a seller health scorecard, and honest delivery promises.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delivery is the single most measurable way to lift reviews, and reviews are what sellers live on.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DATA INSPECTION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inspected all 8 data files before choosing a single analysis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3383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=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order_item_id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+ payment_sequential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review_id + 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product_category_name_translation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818120" y="1828800"/>
            <a:ext cx="3822192" cy="3520440"/>
          </a:xfrm>
          <a:prstGeom prst="roundRect">
            <a:avLst>
              <a:gd name="adj" fmla="val 3117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46720" y="1965960"/>
            <a:ext cx="3429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 answer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Customer location (state / zip)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Repeat buyers (customer_unique_id)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Seller shipping deadline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Costs or margins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Order review score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Delivery dates (5 timestamps)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decided the questions: with no customer location or repeat-buyer data, the story had to come from orders, sellers and reviews.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connects through the order, and three joins would inflate totals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B9AAA"/>
          </a:solidFill>
          <a:ln w="15875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B9AAA"/>
          </a:solidFill>
          <a:ln w="15875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288036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10896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43434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 w="15875">
            <a:solidFill>
              <a:srgbClr val="5B6B7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108960" y="43434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joined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88036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B9AAA"/>
          </a:solidFill>
          <a:ln w="15875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66928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 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 w="15875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69280" y="18288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English names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93192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 w="15875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669280" y="3931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rows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31720" y="2217420"/>
            <a:ext cx="777240" cy="10515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2331720" y="3268980"/>
            <a:ext cx="777240" cy="10515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3268980"/>
            <a:ext cx="7772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60820" y="260604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60820" y="365760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order_id, product_id, seller_id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01000" y="1828800"/>
            <a:ext cx="3639312" cy="3611880"/>
          </a:xfrm>
          <a:prstGeom prst="roundRect">
            <a:avLst>
              <a:gd name="adj" fmla="val 3038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183880" y="196596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cleaned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payments and reviews share order_id with each other: many-to-many. We reduce each to one row per order first.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orders have 2+ reviews: we keep the latest.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impossible dates: only that duration is blanked.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reviews dated before the purchase: removed.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blindly would repeat rows and inflate every total, so each table is reduced to the right grain first.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GROWTH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grew 135% in a year, then stopped at ~6,749 a month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498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920240"/>
            <a:ext cx="322783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641080" y="205740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+135%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78892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Jan–Aug 2018 vs Jan–Aug 2017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3566160"/>
            <a:ext cx="322783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41080" y="370332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7,544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43484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 Nov 2017, the peak month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growth flat, every existing order and seller becomes more valuable to protect.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THE DELIVERY PROMISE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promises 24 days, delivers in 13 — and still breaks at peak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863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920240"/>
            <a:ext cx="295351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915400" y="2057400"/>
            <a:ext cx="2496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78892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in Mar 2018, the worst month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3566160"/>
            <a:ext cx="295351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915400" y="3703320"/>
            <a:ext cx="2496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20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43484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above 12% late: Nov 17, Feb 18, Mar 18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promise is safe, so the issue is peak volume, which is predictable weeks ahead.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THE COST OF BEING LATE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days late is forgiven. Over a week late is not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920240"/>
            <a:ext cx="377647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92440" y="205740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 vs 54.6%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7889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rated 1-2 stars: on time vs late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566160"/>
            <a:ext cx="377647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370332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78.3%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4348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that never arrived got 1-2 stars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starts after 3 days late, so the goal is to catch the risky orders early.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and missing orders are 11% of orders but 44% of bad reviews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1323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920240"/>
            <a:ext cx="3593592" cy="3474720"/>
          </a:xfrm>
          <a:prstGeom prst="roundRect">
            <a:avLst>
              <a:gd name="adj" fmla="val 3158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75320" y="21031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2,965 orders never arrived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1,107 stuck in "shipped"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 canceled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 out of stock ("unavailable")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615 stuck before shipping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1.74 stars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proof of cause: late or missing orders may also differ by product or seller.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WHERE THE TIME GOES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orders spend 3.3x longer in transit, and slow hand-overs make it worse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920240"/>
            <a:ext cx="395935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909560" y="205740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16.6% vs 6.3%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7889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when the hand-over to the carrier takes 5+ days vs. less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566160"/>
            <a:ext cx="395935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909560" y="370332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43484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 wait 5+ days from purchase until the carrier picks them up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levers: the seller's hand-over time (2.6x more late risk) and carrier transit on risky routes.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· SELLERS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group of sellers keeps missing — and we can name them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come from the top 10% of sellers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of 634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with 30+ orders have 15%+ late or missing 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9359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205740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7889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sellers are based in São Paulo state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scorecard works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sellers with 30+ orders are scored (634 sellers, 77% of sales).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rate = late orders + orders that never arrived, divided by all their orders.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scored seller has 9.5%. Anyone at 15% or more goes on a watch-list.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sellers (median: 6 orders) are too thin to judge, so they need onboarding help instead.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101 watch-list sellers hold 8.2% of sales, so coaching them is cheap and protects sales.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 · HIDDEN PROBLEMS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on-time orders fail when they arrive in pieces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of on-time orders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1-2 star comments say</a:t>
            </a:r>
            <a:endParaRPr lang="en-US" sz="17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303520" y="2194560"/>
          <a:ext cx="6309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1,257 on-time orders had 2+ sellers and score 2.86 vs 4.3. Customers say "only part arrived" in 14% of bad comments.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7 · SMALL THINGS THAT ADD FRICTION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costs 77% of the price on items under R$25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920240"/>
            <a:ext cx="395935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909560" y="205740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7889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cost compared to item price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566160"/>
            <a:ext cx="3959352" cy="14630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909560" y="370332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1.38 days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43484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approve a boleto payment vs 0.19 days for a card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adds a day before the seller even starts, and cheap items make the shipping cost feel unfair.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problem we found has a matching fix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40156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Peak-month delays (Nov, Feb, Mar)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Early-warning score + capacity 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6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Intelligence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that never arrive (3%)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Stuck-order alerts, stock sync with sellers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6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Intelligence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seller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scorecard + watch-list coaching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6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split across sellers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 the buyer early, bundle where possible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6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 is too long or too short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delivery date per route and season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26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 Calibration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5577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solution, not a menu of tools.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Intelligence &amp; Seller Health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score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every order at checkout for its chance of arriving late, using seller history, route, product size and season. Data Olist already has.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scorecard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late rate, missing orders, handling time and review trend for each seller, with a minimum-volume rule and a weekly watch-list.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calibration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realistic delivery windows per route and month: tighter when safe, wider when risky. Tested with an A/B test before rollout.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one? The problem is real, it repeats (so it can be predicted), the data exists, and it fits Olist's move to proactive, AI-first tools.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call to a working pilot in 12 weeks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514600"/>
            <a:ext cx="10149840" cy="0"/>
          </a:xfrm>
          <a:prstGeom prst="line">
            <a:avLst/>
          </a:prstGeom>
          <a:noFill/>
          <a:ln w="254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F26B2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with Olist ops and data teams. Confirm data access. Re-run this analysis on current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47872" y="2286000"/>
            <a:ext cx="457200" cy="457200"/>
          </a:xfrm>
          <a:prstGeom prst="ellipse">
            <a:avLst/>
          </a:prstGeom>
          <a:solidFill>
            <a:srgbClr val="1B9AA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6499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base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scorecard, route and peak-season diagnostics, first watch-list.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64224" y="2286000"/>
            <a:ext cx="457200" cy="457200"/>
          </a:xfrm>
          <a:prstGeom prst="ellipse">
            <a:avLst/>
          </a:prstGeom>
          <a:solidFill>
            <a:srgbClr val="1B9AA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181344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the early-warning model on selected routes, with a control group.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0576" y="2286000"/>
            <a:ext cx="457200" cy="457200"/>
          </a:xfrm>
          <a:prstGeom prst="ellipse">
            <a:avLst/>
          </a:prstGeom>
          <a:solidFill>
            <a:srgbClr val="1B9AA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997696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scores to the ERP and AI agents. Add promise calibration with an A/B test.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DE9DD"/>
          </a:solidFill>
          <a:ln w="12700">
            <a:solidFill>
              <a:srgbClr val="FDE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upside: if a quarter of late orders behaved like on-time ones, about 7.1% of all bad reviews would not happen. The pilot measures the real number.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would approach Olist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3566160"/>
          </a:xfrm>
          <a:prstGeom prst="roundRect">
            <a:avLst>
              <a:gd name="adj" fmla="val 3077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[Name], I analysed Olist's public order data at HVIA Data &amp; AI Solutions and one pattern stood out: orders that arrive late or never arrive are about 11% of orders, but they carry 44% of all 1-2 star reviews. Since Olist is building proactive AI tools for merchants, I wonder if a delivery-risk early warning is on your roadmap. Would you be open to a 20-minute call in the next two weeks?”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828800"/>
            <a:ext cx="37764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person (Operations, Data or Growth lead) on LinkedIn and confirm their current title.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message on LinkedIn, attach a one-page scorecard.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call, then scope the 12-week pilot.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2016–2018 data only; shows association, not cause; no costs, customer location or repeat-buyer data. Today's Olist is much larger.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HVIA · Olist Business Discovery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1807</Words>
  <Application>Microsoft Office PowerPoint</Application>
  <PresentationFormat>Widescreen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— Why customers leave bad reviews</dc:title>
  <dc:subject>PptxGenJS Presentation</dc:subject>
  <dc:creator>PptxGenJS</dc:creator>
  <cp:lastModifiedBy>morad elna7la</cp:lastModifiedBy>
  <cp:revision>2</cp:revision>
  <dcterms:created xsi:type="dcterms:W3CDTF">2026-09-29T23:18:51Z</dcterms:created>
  <dcterms:modified xsi:type="dcterms:W3CDTF">2026-09-30T15:35:33Z</dcterms:modified>
</cp:coreProperties>
</file>